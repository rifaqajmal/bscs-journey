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8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87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3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6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41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7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9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4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36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65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7651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52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44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18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45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04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25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22D5FDE-9BFA-4BEF-B041-38AA456D553C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0113F65-B6CB-42C8-8094-EF85FBA2A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4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99495"/>
            <a:ext cx="7772400" cy="1470025"/>
          </a:xfrm>
        </p:spPr>
        <p:txBody>
          <a:bodyPr>
            <a:normAutofit/>
          </a:bodyPr>
          <a:lstStyle/>
          <a:p>
            <a:r>
              <a:rPr lang="en-US" sz="6600" b="1" u="sng" dirty="0" smtClean="0">
                <a:solidFill>
                  <a:srgbClr val="002060"/>
                </a:solidFill>
              </a:rPr>
              <a:t>Network Flow</a:t>
            </a:r>
            <a:endParaRPr lang="en-US" sz="6600" b="1" u="sng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771358"/>
            <a:ext cx="6400800" cy="1447800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By </a:t>
            </a:r>
            <a:endParaRPr lang="en-US" b="1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b="1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Rifaq</a:t>
            </a:r>
            <a:r>
              <a:rPr lang="en-US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Ajmal</a:t>
            </a:r>
            <a:endParaRPr lang="en-US" b="1" dirty="0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spcBef>
                <a:spcPct val="0"/>
              </a:spcBef>
            </a:pPr>
            <a:r>
              <a:rPr lang="en-US" b="1" dirty="0" err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Rohail</a:t>
            </a:r>
            <a:r>
              <a:rPr lang="en-US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Muneer</a:t>
            </a:r>
            <a:endParaRPr lang="en-US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1" b="1301"/>
          <a:stretch>
            <a:fillRect/>
          </a:stretch>
        </p:blipFill>
        <p:spPr>
          <a:xfrm>
            <a:off x="0" y="0"/>
            <a:ext cx="9144000" cy="2438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1187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914400"/>
            <a:ext cx="8534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What is a Network Flow?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network flow represents the movement of </a:t>
            </a:r>
            <a:r>
              <a:rPr lang="en-US" sz="2800" dirty="0" smtClean="0"/>
              <a:t>something.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(</a:t>
            </a:r>
            <a:r>
              <a:rPr lang="en-US" sz="2800" dirty="0"/>
              <a:t>like water, data, or traffic) through a network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e</a:t>
            </a:r>
            <a:r>
              <a:rPr lang="en-US" sz="2800" dirty="0" err="1" smtClean="0"/>
              <a:t>.g</a:t>
            </a:r>
            <a:endParaRPr lang="en-US" sz="2800" dirty="0" smtClean="0"/>
          </a:p>
        </p:txBody>
      </p:sp>
      <p:pic>
        <p:nvPicPr>
          <p:cNvPr id="1026" name="Picture 2" descr="Flow Network | Brilliant Math &amp; Science Wik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462446"/>
            <a:ext cx="3962400" cy="210015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 bwMode="auto">
          <a:xfrm>
            <a:off x="0" y="1295400"/>
            <a:ext cx="9144000" cy="381000"/>
          </a:xfrm>
          <a:prstGeom prst="rightArrow">
            <a:avLst>
              <a:gd name="adj1" fmla="val 33546"/>
              <a:gd name="adj2" fmla="val 51564"/>
            </a:avLst>
          </a:pr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3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81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838200"/>
            <a:ext cx="838200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Network flow </a:t>
            </a:r>
            <a:r>
              <a:rPr lang="en-US" sz="2800" dirty="0"/>
              <a:t>consists of:</a:t>
            </a:r>
          </a:p>
          <a:p>
            <a:r>
              <a:rPr lang="en-US" sz="3600" b="1" dirty="0">
                <a:solidFill>
                  <a:srgbClr val="002060"/>
                </a:solidFill>
              </a:rPr>
              <a:t>Nodes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Points where the flow enters, exits, or passes through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3600" b="1" dirty="0">
                <a:solidFill>
                  <a:srgbClr val="002060"/>
                </a:solidFill>
              </a:rPr>
              <a:t>Edges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Connections between nodes, with a maximum capacity indicating how much flow can go through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3" name="Picture 2" descr="Flow Network | Brilliant Math &amp; Science Wik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242747"/>
            <a:ext cx="3352800" cy="1777053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4491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685800"/>
            <a:ext cx="8686800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Maximum 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maximum flow is the largest amount of flow that can be transported from a source node to a sink node in a network</a:t>
            </a:r>
            <a:r>
              <a:rPr lang="en-US" sz="2400" dirty="0" smtClean="0"/>
              <a:t>.</a:t>
            </a:r>
          </a:p>
          <a:p>
            <a:endParaRPr lang="en-US" sz="2800" dirty="0"/>
          </a:p>
          <a:p>
            <a:r>
              <a:rPr lang="en-US" sz="3600" b="1" dirty="0" smtClean="0">
                <a:solidFill>
                  <a:srgbClr val="002060"/>
                </a:solidFill>
              </a:rPr>
              <a:t>Example</a:t>
            </a:r>
            <a:endParaRPr lang="en-US" sz="3600" b="1" dirty="0">
              <a:solidFill>
                <a:srgbClr val="00206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Imagine a network with 4 nodes: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Source (S), Intermediate (A, B), and Sink (T</a:t>
            </a:r>
            <a:r>
              <a:rPr lang="en-US" sz="2400" dirty="0" smtClean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edges between the nodes have capacities</a:t>
            </a:r>
            <a:r>
              <a:rPr lang="en-US" sz="2400" dirty="0" smtClean="0"/>
              <a:t>:</a:t>
            </a:r>
            <a:endParaRPr lang="en-US" sz="2400" dirty="0"/>
          </a:p>
          <a:p>
            <a:r>
              <a:rPr lang="en-US" sz="2400" dirty="0" smtClean="0"/>
              <a:t>- </a:t>
            </a:r>
            <a:r>
              <a:rPr lang="en-US" sz="2400" dirty="0"/>
              <a:t>S → A (capacity 10)</a:t>
            </a:r>
          </a:p>
          <a:p>
            <a:r>
              <a:rPr lang="en-US" sz="2400" dirty="0"/>
              <a:t>- S → B (capacity 5)</a:t>
            </a:r>
          </a:p>
          <a:p>
            <a:r>
              <a:rPr lang="en-US" sz="2400" dirty="0"/>
              <a:t>- A → T (capacity 5)</a:t>
            </a:r>
          </a:p>
          <a:p>
            <a:r>
              <a:rPr lang="en-US" sz="2400" dirty="0"/>
              <a:t>- B → T (capacity 10)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86701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914400"/>
            <a:ext cx="85344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maximum flow is the largest amount of flow that can move from S to T. </a:t>
            </a:r>
          </a:p>
          <a:p>
            <a:r>
              <a:rPr lang="en-US" sz="2800" dirty="0"/>
              <a:t> 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3200" b="1" dirty="0">
                <a:solidFill>
                  <a:srgbClr val="002060"/>
                </a:solidFill>
              </a:rPr>
              <a:t>O</a:t>
            </a:r>
            <a:r>
              <a:rPr lang="en-US" sz="3200" b="1" dirty="0" smtClean="0">
                <a:solidFill>
                  <a:srgbClr val="002060"/>
                </a:solidFill>
              </a:rPr>
              <a:t>ne </a:t>
            </a:r>
            <a:r>
              <a:rPr lang="en-US" sz="3200" b="1" dirty="0">
                <a:solidFill>
                  <a:srgbClr val="002060"/>
                </a:solidFill>
              </a:rPr>
              <a:t>solution is</a:t>
            </a:r>
            <a:r>
              <a:rPr lang="en-US" sz="3200" b="1" dirty="0" smtClean="0">
                <a:solidFill>
                  <a:srgbClr val="002060"/>
                </a:solidFill>
              </a:rPr>
              <a:t>:</a:t>
            </a:r>
            <a:endParaRPr lang="en-US" sz="3200" b="1" dirty="0">
              <a:solidFill>
                <a:srgbClr val="00206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From </a:t>
            </a:r>
            <a:r>
              <a:rPr lang="en-US" sz="2800" dirty="0"/>
              <a:t>S to A to T, using the full capacity of 5.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From </a:t>
            </a:r>
            <a:r>
              <a:rPr lang="en-US" sz="2800" dirty="0"/>
              <a:t>S to B to T, also using a capacity of 5</a:t>
            </a:r>
            <a:r>
              <a:rPr lang="en-US" sz="2800" dirty="0" smtClean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 smtClean="0"/>
          </a:p>
          <a:p>
            <a:endParaRPr lang="en-US" sz="2800" dirty="0" smtClean="0"/>
          </a:p>
          <a:p>
            <a:endParaRPr lang="en-US" sz="2800" dirty="0"/>
          </a:p>
          <a:p>
            <a:r>
              <a:rPr lang="en-US" sz="2800" dirty="0"/>
              <a:t>Thus, the maximum flow from S to T is 10 (5 + 5).</a:t>
            </a:r>
          </a:p>
        </p:txBody>
      </p:sp>
      <p:sp>
        <p:nvSpPr>
          <p:cNvPr id="3" name="Rectangle 2"/>
          <p:cNvSpPr/>
          <p:nvPr/>
        </p:nvSpPr>
        <p:spPr>
          <a:xfrm>
            <a:off x="6324600" y="3544715"/>
            <a:ext cx="2895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- S → A (</a:t>
            </a:r>
            <a:r>
              <a:rPr lang="en-US" sz="2400" b="1" dirty="0" smtClean="0"/>
              <a:t>capacity10</a:t>
            </a:r>
            <a:r>
              <a:rPr lang="en-US" sz="2400" b="1" dirty="0"/>
              <a:t>)</a:t>
            </a:r>
          </a:p>
          <a:p>
            <a:r>
              <a:rPr lang="en-US" sz="2400" b="1" dirty="0"/>
              <a:t>- S → B (capacity 5)</a:t>
            </a:r>
          </a:p>
          <a:p>
            <a:r>
              <a:rPr lang="en-US" sz="2400" b="1" dirty="0"/>
              <a:t>- A → T (capacity 5)</a:t>
            </a:r>
          </a:p>
          <a:p>
            <a:r>
              <a:rPr lang="en-US" sz="2400" b="1" dirty="0"/>
              <a:t>- B → T (capacity 10)</a:t>
            </a:r>
            <a:endParaRPr lang="en-US" sz="36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610138"/>
              </p:ext>
            </p:extLst>
          </p:nvPr>
        </p:nvGraphicFramePr>
        <p:xfrm>
          <a:off x="6217227" y="3637527"/>
          <a:ext cx="2926773" cy="1476848"/>
        </p:xfrm>
        <a:graphic>
          <a:graphicData uri="http://schemas.openxmlformats.org/drawingml/2006/table">
            <a:tbl>
              <a:tblPr/>
              <a:tblGrid>
                <a:gridCol w="2926773">
                  <a:extLst>
                    <a:ext uri="{9D8B030D-6E8A-4147-A177-3AD203B41FA5}">
                      <a16:colId xmlns:a16="http://schemas.microsoft.com/office/drawing/2014/main" val="874388296"/>
                    </a:ext>
                  </a:extLst>
                </a:gridCol>
              </a:tblGrid>
              <a:tr h="14768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0862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2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762000"/>
            <a:ext cx="8382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Minimum Cut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minimum cut is the smallest set of </a:t>
            </a:r>
            <a:r>
              <a:rPr lang="en-US" sz="2800" dirty="0" smtClean="0"/>
              <a:t>edges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if </a:t>
            </a:r>
            <a:r>
              <a:rPr lang="en-US" sz="2800" dirty="0"/>
              <a:t>removed, would disconnect the source from the sink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3600" b="1" dirty="0" smtClean="0">
                <a:solidFill>
                  <a:srgbClr val="002060"/>
                </a:solidFill>
              </a:rPr>
              <a:t>Example</a:t>
            </a:r>
            <a:endParaRPr lang="en-US" sz="3600" dirty="0" smtClean="0">
              <a:solidFill>
                <a:srgbClr val="002060"/>
              </a:solidFill>
            </a:endParaRPr>
          </a:p>
          <a:p>
            <a:r>
              <a:rPr lang="en-US" sz="2400" b="1" dirty="0" smtClean="0"/>
              <a:t>S </a:t>
            </a:r>
            <a:r>
              <a:rPr lang="en-US" sz="2400" b="1" dirty="0"/>
              <a:t>→ A (capacity 10)</a:t>
            </a:r>
          </a:p>
          <a:p>
            <a:r>
              <a:rPr lang="en-US" sz="2400" b="1" dirty="0" smtClean="0"/>
              <a:t>S </a:t>
            </a:r>
            <a:r>
              <a:rPr lang="en-US" sz="2400" b="1" dirty="0"/>
              <a:t>→ B (capacity 5)</a:t>
            </a:r>
          </a:p>
          <a:p>
            <a:r>
              <a:rPr lang="en-US" sz="2400" b="1" dirty="0" smtClean="0"/>
              <a:t>A </a:t>
            </a:r>
            <a:r>
              <a:rPr lang="en-US" sz="2400" b="1" dirty="0"/>
              <a:t>→ T (capacity 5)</a:t>
            </a:r>
          </a:p>
          <a:p>
            <a:r>
              <a:rPr lang="en-US" sz="2400" b="1" dirty="0" smtClean="0"/>
              <a:t>B </a:t>
            </a:r>
            <a:r>
              <a:rPr lang="en-US" sz="2400" b="1" dirty="0"/>
              <a:t>→ T (capacity 10</a:t>
            </a:r>
            <a:r>
              <a:rPr lang="en-US" sz="2400" b="1" dirty="0" smtClean="0"/>
              <a:t>)</a:t>
            </a:r>
            <a:endParaRPr lang="en-US" sz="3600" b="1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our network, if we cut the edge S → A, the maximum flow from S to T would drop significantly. Similarly, if we cut S → B, the same thing happens</a:t>
            </a:r>
            <a:r>
              <a:rPr lang="en-US" sz="2400" dirty="0" smtClean="0"/>
              <a:t>.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7026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3155475"/>
            <a:ext cx="8915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endParaRPr lang="en-US" sz="3200" b="1" dirty="0" smtClean="0">
              <a:solidFill>
                <a:srgbClr val="002060"/>
              </a:solidFill>
            </a:endParaRPr>
          </a:p>
          <a:p>
            <a:endParaRPr lang="en-US" sz="3200" b="1" dirty="0">
              <a:solidFill>
                <a:srgbClr val="002060"/>
              </a:solidFill>
            </a:endParaRPr>
          </a:p>
          <a:p>
            <a:r>
              <a:rPr lang="en-US" sz="3200" b="1" dirty="0" smtClean="0">
                <a:solidFill>
                  <a:srgbClr val="002060"/>
                </a:solidFill>
              </a:rPr>
              <a:t>Now where does it occur?</a:t>
            </a:r>
            <a:endParaRPr lang="en-US" sz="3200" b="1" dirty="0">
              <a:solidFill>
                <a:srgbClr val="002060"/>
              </a:solidFill>
            </a:endParaRPr>
          </a:p>
          <a:p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6092537" y="1442892"/>
            <a:ext cx="30514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- S → A (</a:t>
            </a:r>
            <a:r>
              <a:rPr lang="en-US" sz="2400" b="1" dirty="0" smtClean="0"/>
              <a:t>capacity10</a:t>
            </a:r>
            <a:r>
              <a:rPr lang="en-US" sz="2400" b="1" dirty="0"/>
              <a:t>)</a:t>
            </a:r>
          </a:p>
          <a:p>
            <a:r>
              <a:rPr lang="en-US" sz="2400" b="1" dirty="0"/>
              <a:t>- S → B (capacity 5)</a:t>
            </a:r>
          </a:p>
          <a:p>
            <a:r>
              <a:rPr lang="en-US" sz="2400" b="1" dirty="0"/>
              <a:t>- A → T (capacity 5)</a:t>
            </a:r>
          </a:p>
          <a:p>
            <a:r>
              <a:rPr lang="en-US" sz="2400" b="1" dirty="0"/>
              <a:t>- B → T (capacity 10)</a:t>
            </a:r>
            <a:endParaRPr lang="en-US" sz="3600" b="1" dirty="0"/>
          </a:p>
        </p:txBody>
      </p:sp>
      <p:sp>
        <p:nvSpPr>
          <p:cNvPr id="3" name="Rectangle 2"/>
          <p:cNvSpPr/>
          <p:nvPr/>
        </p:nvSpPr>
        <p:spPr>
          <a:xfrm>
            <a:off x="342901" y="914400"/>
            <a:ext cx="5715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Another way to see the minimum</a:t>
            </a:r>
          </a:p>
          <a:p>
            <a:pPr algn="just"/>
            <a:r>
              <a:rPr lang="en-US" sz="2800" dirty="0"/>
              <a:t>cut is to imagine a wall between</a:t>
            </a:r>
          </a:p>
          <a:p>
            <a:pPr algn="just"/>
            <a:r>
              <a:rPr lang="en-US" sz="2800" dirty="0"/>
              <a:t>nodes. If you place the wall</a:t>
            </a:r>
          </a:p>
          <a:p>
            <a:pPr algn="just"/>
            <a:r>
              <a:rPr lang="en-US" sz="2800" dirty="0" smtClean="0"/>
              <a:t>between </a:t>
            </a:r>
            <a:r>
              <a:rPr lang="en-US" sz="2800" dirty="0"/>
              <a:t>S and A, and S and B,</a:t>
            </a:r>
          </a:p>
          <a:p>
            <a:pPr algn="just"/>
            <a:r>
              <a:rPr lang="en-US" sz="2800" dirty="0" smtClean="0"/>
              <a:t>the </a:t>
            </a:r>
            <a:r>
              <a:rPr lang="en-US" sz="2800" dirty="0"/>
              <a:t>flow from S to T is completely</a:t>
            </a:r>
          </a:p>
          <a:p>
            <a:pPr algn="just"/>
            <a:r>
              <a:rPr lang="en-US" sz="2800" dirty="0" smtClean="0"/>
              <a:t>stopped</a:t>
            </a:r>
            <a:r>
              <a:rPr lang="en-US" sz="2800" dirty="0"/>
              <a:t>. This is a minimum cut</a:t>
            </a:r>
            <a:r>
              <a:rPr lang="en-US" sz="2800" dirty="0" smtClean="0"/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781447"/>
              </p:ext>
            </p:extLst>
          </p:nvPr>
        </p:nvGraphicFramePr>
        <p:xfrm>
          <a:off x="6092537" y="1411380"/>
          <a:ext cx="3051463" cy="1683695"/>
        </p:xfrm>
        <a:graphic>
          <a:graphicData uri="http://schemas.openxmlformats.org/drawingml/2006/table">
            <a:tbl>
              <a:tblPr/>
              <a:tblGrid>
                <a:gridCol w="3051463">
                  <a:extLst>
                    <a:ext uri="{9D8B030D-6E8A-4147-A177-3AD203B41FA5}">
                      <a16:colId xmlns:a16="http://schemas.microsoft.com/office/drawing/2014/main" val="1672494371"/>
                    </a:ext>
                  </a:extLst>
                </a:gridCol>
              </a:tblGrid>
              <a:tr h="16836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708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43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381000" y="467157"/>
            <a:ext cx="82296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US" sz="4000" b="1" dirty="0" smtClean="0">
                <a:solidFill>
                  <a:srgbClr val="002060"/>
                </a:solidFill>
              </a:rPr>
              <a:t>Electricity Network </a:t>
            </a:r>
            <a:r>
              <a:rPr lang="en-US" dirty="0" smtClean="0"/>
              <a:t>– that how much electricity can go through the grid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7" t="18612" r="6753" b="12794"/>
          <a:stretch/>
        </p:blipFill>
        <p:spPr bwMode="auto">
          <a:xfrm>
            <a:off x="1004094" y="2047215"/>
            <a:ext cx="7543800" cy="403296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824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533400" y="685800"/>
            <a:ext cx="8229600" cy="198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buFont typeface="Wingdings" pitchFamily="2" charset="2"/>
              <a:buChar char="Ø"/>
            </a:pPr>
            <a:r>
              <a:rPr lang="en-US" sz="4000" b="1" dirty="0" smtClean="0">
                <a:solidFill>
                  <a:srgbClr val="002060"/>
                </a:solidFill>
              </a:rPr>
              <a:t>The Internet Network</a:t>
            </a:r>
          </a:p>
          <a:p>
            <a:pPr marL="0" indent="0">
              <a:buFont typeface="Arial" pitchFamily="34" charset="0"/>
              <a:buNone/>
            </a:pPr>
            <a:r>
              <a:rPr lang="en-US" dirty="0" smtClean="0"/>
              <a:t>How much traffic can go through a local network or the internet.</a:t>
            </a:r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0" t="34467" r="23743"/>
          <a:stretch/>
        </p:blipFill>
        <p:spPr bwMode="auto">
          <a:xfrm>
            <a:off x="1676400" y="2743200"/>
            <a:ext cx="5867400" cy="36333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3623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1676400"/>
            <a:ext cx="86106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Conclusion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Understanding maximum flow and minimum cut can help in many </a:t>
            </a:r>
            <a:r>
              <a:rPr lang="en-US" sz="2800" dirty="0" smtClean="0"/>
              <a:t>scenarios.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from </a:t>
            </a:r>
            <a:r>
              <a:rPr lang="en-US" sz="2800" dirty="0"/>
              <a:t>optimizing networks to planning logistics. With these basic </a:t>
            </a:r>
            <a:r>
              <a:rPr lang="en-US" sz="2800" dirty="0" smtClean="0"/>
              <a:t>concepts, we can analyze the flow and capacity of any network.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                            </a:t>
            </a:r>
            <a:r>
              <a:rPr lang="en-US" sz="3600" b="1" dirty="0" smtClean="0"/>
              <a:t>Thank You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27495808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141</TotalTime>
  <Words>498</Words>
  <Application>Microsoft Office PowerPoint</Application>
  <PresentationFormat>On-screen Show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Tw Cen MT</vt:lpstr>
      <vt:lpstr>Wingdings</vt:lpstr>
      <vt:lpstr>Droplet</vt:lpstr>
      <vt:lpstr>Network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Flow</dc:title>
  <dc:creator>branded laptop</dc:creator>
  <cp:lastModifiedBy>branded laptop</cp:lastModifiedBy>
  <cp:revision>19</cp:revision>
  <dcterms:created xsi:type="dcterms:W3CDTF">2024-05-08T18:21:47Z</dcterms:created>
  <dcterms:modified xsi:type="dcterms:W3CDTF">2024-05-19T17:30:56Z</dcterms:modified>
</cp:coreProperties>
</file>